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Титул. Обозначить структуру: сначала объясняю статью (7-8 минут), потом собственные результаты воспроизведения (6-7 минут).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Ключ: показатьFigure 1a, объяснить оси (итерации оптимизатора, test accuracy), обозначить границы утверждения.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Важно не смешивать: в статье оба варианта. В моём воспроизведении CIFAR = треугольный CLR, MNIST = трёхфазный 1cycle. Схема слева: условные единицы.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рычага баланса регуляризации с числами статьи. Подчеркнуть: объяснение с поверхностью loss - заимствованная интуиция.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Связка: range test показывает эмпирически, формула 8 - почему. На слайде 12 вернёмся к формуле: у меня 2-6 не сошлось.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Честно обозначить рамки: не всё из статьи; одна важная адаптация - single-device BN.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время поджимает - 30 секунд: блок, BN-акумуляторы, momentum-закон, drop_last. Детали есть в отчёте.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Главное: 1cycle за 12 эпох (7x меньше обновлений) даёт те же ~99,1-99,2 что и baseline за 85 эпох.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моё главное CIFAR-число. Сопоставить с Fig 4b статьи (там ResNet-20 без точных чисел в таблице).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Форма кривой совпадает с Fig 1a: шум на пике LR, рост на спуске. PC-ниже-статьи - следствие single-device BN и drop_last, причинно не проверял.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Показать, что LR-диагностика живая: кривые из моих прогонов. На LeNet рабочая область ~0,36, на ResNet-56 ~1,6: направление "большие LR допустимы" подтверждается.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Честное расхождение: форма совпала, числа нет. BN-агрегация - ключевой выбор в реализации формулы.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Всё при бюджете 20k, seed 0. Baseline - r20_clr_seed0 = 91,36 %.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Тезис "большой выигрыш на дефиците данных" требует осторожности: на 10k он перевернулся. Возможно, короткий CLR не успевает на маленьком наборе при равном бюджете - но это догадка, не вывод.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колонки: подтверждения, расхождения, рамки честности. Финальная строка - основной вывод.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Хвост: где что лежит. Команды из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7506E"/>
                </a:solidFill>
                <a:latin typeface="Calibri"/>
              </a:rPr>
              <a:t>ЭФФЕКТИВНЫЕ НЕЙРОСЕТИ · ДОМАШНЯЯ РАБОТА №2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6949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600" b="1" i="0">
                <a:solidFill>
                  <a:srgbClr val="1C2430"/>
                </a:solidFill>
                <a:latin typeface="serif"/>
              </a:rPr>
              <a:t>Super-Convergence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685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0" i="0">
                <a:solidFill>
                  <a:srgbClr val="5C6672"/>
                </a:solidFill>
                <a:latin typeface="serif"/>
              </a:rPr>
              <a:t>Very Fast Training of Neural Networks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0" i="0">
                <a:solidFill>
                  <a:srgbClr val="5C6672"/>
                </a:solidFill>
                <a:latin typeface="serif"/>
              </a:rPr>
              <a:t>Using Large Learning 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1C2430"/>
                </a:solidFill>
                <a:latin typeface="Calibri"/>
              </a:rPr>
              <a:t>Leslie N. Smith · Nicholay Topin · arXiv:1708.07120v3, 2018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14800"/>
            <a:ext cx="6309360" cy="15240"/>
          </a:xfrm>
          <a:prstGeom prst="rect">
            <a:avLst/>
          </a:prstGeom>
          <a:solidFill>
            <a:srgbClr val="E1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15968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Разбор статьи и воспроизведение ключевых экспериментов: MNIST/LeNet, CIFAR-10/ResNet-20 и ResNet-56, LR range test, секущая оценка шага, абляции.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5C6672"/>
                </a:solidFill>
                <a:latin typeface="Calibri"/>
              </a:rPr>
              <a:t>Перенос протокола Caffe на PyTorch, 26 обучающих запусков, NVIDIA H100. Все отчёты, артефакты и код в этом репозитории.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051560"/>
            <a:ext cx="3886200" cy="5029200"/>
          </a:xfrm>
          <a:prstGeom prst="roundRect">
            <a:avLst>
              <a:gd name="adj" fmla="val 4500"/>
            </a:avLst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307592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5C6672"/>
                </a:solidFill>
                <a:latin typeface="Calibri"/>
              </a:rPr>
              <a:t>ГЛАВНЫЙ РЕЗУЛЬТАТ СТАТЬИ (FIG. 1A)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655064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400" b="1" i="0">
                <a:solidFill>
                  <a:srgbClr val="17506E"/>
                </a:solidFill>
                <a:latin typeface="serif"/>
              </a:rPr>
              <a:t>92,4 %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41448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C2430"/>
                </a:solidFill>
                <a:latin typeface="Calibri"/>
              </a:rPr>
              <a:t>за 10 000 обновлений с одним циклом LR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990088"/>
            <a:ext cx="3337560" cy="15240"/>
          </a:xfrm>
          <a:prstGeom prst="rect">
            <a:avLst/>
          </a:prstGeom>
          <a:solidFill>
            <a:srgbClr val="C7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136391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 i="0">
                <a:solidFill>
                  <a:srgbClr val="B4632A"/>
                </a:solidFill>
                <a:latin typeface="serif"/>
              </a:rPr>
              <a:t>91,2 %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721608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C2430"/>
                </a:solidFill>
                <a:latin typeface="Calibri"/>
              </a:rPr>
              <a:t>за 80 000 обновлений у piecewise-constant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51960"/>
            <a:ext cx="33375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</a:rPr>
              <a:t>Восемь раз меньше обновлений на ResNet-56 с CIFAR-10.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5C6672"/>
                </a:solidFill>
                <a:latin typeface="Calibri"/>
              </a:rPr>
              <a:t>Это сравнение двух конкретных рецептов, а не гарантия ускорения для любой сети. Дальше в презентации: что из этого подтвердилось в моих запусках.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7506E"/>
                </a:solidFill>
                <a:latin typeface="Calibri"/>
              </a:rPr>
              <a:t>01 · ИДЕЯ СТАТЬИ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97" b="1" i="0">
                <a:solidFill>
                  <a:srgbClr val="1C2430"/>
                </a:solidFill>
                <a:latin typeface="serif"/>
              </a:rPr>
              <a:t>Можно ли научиться быстрее за счёт очень большого LR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2700"/>
          </a:xfrm>
          <a:prstGeom prst="rect">
            <a:avLst/>
          </a:prstGeom>
          <a:solidFill>
            <a:srgbClr val="E1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03020"/>
            <a:ext cx="2377440" cy="2286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Smith &amp; Topin · Super-Convergence · arXiv:1708.07120v3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02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36192"/>
            <a:ext cx="466344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400" b="1" i="0">
                <a:solidFill>
                  <a:srgbClr val="1C2430"/>
                </a:solidFill>
                <a:latin typeface="Calibri"/>
              </a:rPr>
              <a:t>Обычный протокол CIFAR: </a:t>
            </a:r>
            <a:r>
              <a:rPr sz="1400" b="0" i="0">
                <a:solidFill>
                  <a:srgbClr val="1C2430"/>
                </a:solidFill>
                <a:latin typeface="Calibri"/>
              </a:rPr>
              <a:t>постоянный LR 0,35, два понижения в 10 раз (на 50k и 70k обновлений), всего 80 000 обновлений.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400" b="1" i="0">
                <a:solidFill>
                  <a:srgbClr val="1C2430"/>
                </a:solidFill>
                <a:latin typeface="Calibri"/>
              </a:rPr>
              <a:t>Авторы предлагают: </a:t>
            </a:r>
            <a:r>
              <a:rPr sz="1400" b="0" i="0">
                <a:solidFill>
                  <a:srgbClr val="1C2430"/>
                </a:solidFill>
                <a:latin typeface="Calibri"/>
              </a:rPr>
              <a:t>один линейный цикл, который разгоняет LR до 3,0 и обратно. Качество получается выше, а итераций в разы меньше. Эффект назван супер-сходимостью.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400" b="1" i="0">
                <a:solidFill>
                  <a:srgbClr val="1C2430"/>
                </a:solidFill>
                <a:latin typeface="Calibri"/>
              </a:rPr>
              <a:t>Почему это странно: </a:t>
            </a:r>
            <a:r>
              <a:rPr sz="1400" b="0" i="0">
                <a:solidFill>
                  <a:srgbClr val="1C2430"/>
                </a:solidFill>
                <a:latin typeface="Calibri"/>
              </a:rPr>
              <a:t>шаг 3,0 при batch 1000 на порядок больше обычных значений. Без batch norm и правильного balance регуляризации такое обучение расходится.</a:t>
            </a:r>
          </a:p>
        </p:txBody>
      </p:sp>
      <p:pic>
        <p:nvPicPr>
          <p:cNvPr id="9" name="Picture 8" descr="fig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60200"/>
            <a:ext cx="6172200" cy="22827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0" y="5266944"/>
            <a:ext cx="6172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672"/>
                </a:solidFill>
                <a:latin typeface="Calibri"/>
              </a:rPr>
              <a:t>Figure 1 статьи: слева CLR против PC до 80k итераций, справа разные stepsize. Взято из 1708.07120v3.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742432"/>
            <a:ext cx="3503066" cy="640080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742432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17506E"/>
                </a:solidFill>
                <a:latin typeface="serif"/>
              </a:rPr>
              <a:t>92,4 %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5742432"/>
            <a:ext cx="181142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1C2430"/>
                </a:solidFill>
                <a:latin typeface="Calibri"/>
              </a:rPr>
              <a:t>CLR · 10 000 обновлений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4314" y="5742432"/>
            <a:ext cx="3503066" cy="640080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3770" y="5742432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17506E"/>
                </a:solidFill>
                <a:latin typeface="serif"/>
              </a:rPr>
              <a:t>91,2 %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3074" y="5742432"/>
            <a:ext cx="181142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1C2430"/>
                </a:solidFill>
                <a:latin typeface="Calibri"/>
              </a:rPr>
              <a:t>PC · 80 000 обновлений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1700" y="5742432"/>
            <a:ext cx="3503066" cy="640080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5742432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17506E"/>
                </a:solidFill>
                <a:latin typeface="serif"/>
              </a:rPr>
              <a:t>8 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0460" y="5742432"/>
            <a:ext cx="181142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1C2430"/>
                </a:solidFill>
                <a:latin typeface="Calibri"/>
              </a:rPr>
              <a:t>отношение бюджетов (не доказательство ускорения)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7506E"/>
                </a:solidFill>
                <a:latin typeface="Calibri"/>
              </a:rPr>
              <a:t>01 · РАСПИСАНИЯ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66" b="1" i="0">
                <a:solidFill>
                  <a:srgbClr val="1C2430"/>
                </a:solidFill>
                <a:latin typeface="serif"/>
              </a:rPr>
              <a:t>Два разных рецепта: треугольный CLR и трёхфазный 1cycle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2700"/>
          </a:xfrm>
          <a:prstGeom prst="rect">
            <a:avLst/>
          </a:prstGeom>
          <a:solidFill>
            <a:srgbClr val="E1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03020"/>
            <a:ext cx="2377440" cy="2286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Smith &amp; Topin · Super-Convergence · arXiv:1708.07120v3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03 / 16</a:t>
            </a:r>
          </a:p>
        </p:txBody>
      </p:sp>
      <p:pic>
        <p:nvPicPr>
          <p:cNvPr id="8" name="Picture 7" descr="schedules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13" y="1554480"/>
            <a:ext cx="10682067" cy="3063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4800600"/>
            <a:ext cx="34908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7506E"/>
                </a:solidFill>
                <a:latin typeface="Calibri"/>
              </a:rPr>
              <a:t>CLR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93208"/>
            <a:ext cx="349087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C2430"/>
                </a:solidFill>
                <a:latin typeface="Calibri"/>
              </a:rPr>
              <a:t>Линейный подъём от min_lr до max_lr за stepsize обновлений и такой же спуск. Длина одного цикла: 2 × stepsize. Сравнения CIFAR в статье (Fig. 4b) используют именно его.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0410" y="4800600"/>
            <a:ext cx="34908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7506E"/>
                </a:solidFill>
                <a:latin typeface="Calibri"/>
              </a:rPr>
              <a:t>1cycle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0410" y="5093208"/>
            <a:ext cx="349087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C2430"/>
                </a:solidFill>
                <a:latin typeface="Calibri"/>
              </a:rPr>
              <a:t>Более поздний рецепт: цикл короче всего обучения, затем хвост, который опускает LR ниже начального значения. MNIST-эксперимент статьи (таблица 2) построен на нём.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3892" y="4800600"/>
            <a:ext cx="34908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7506E"/>
                </a:solidFill>
                <a:latin typeface="Calibri"/>
              </a:rPr>
              <a:t>Momentum в противофазе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3892" y="5093208"/>
            <a:ext cx="349087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C2430"/>
                </a:solidFill>
                <a:latin typeface="Calibri"/>
              </a:rPr>
              <a:t>Растёт LR, падает momentum: 0,95 → 0,8 → 0,95. Идея авторов: при маленьком LR нужен сильный momentum, чтобы усреднять шум градиентов.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7506E"/>
                </a:solidFill>
                <a:latin typeface="Calibri"/>
              </a:rPr>
              <a:t>01 · ИНТЕРПРЕТАЦИЯ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78" b="1" i="0">
                <a:solidFill>
                  <a:srgbClr val="1C2430"/>
                </a:solidFill>
                <a:latin typeface="serif"/>
              </a:rPr>
              <a:t>Большой LR работает как регуляризатор, и его надо балансировать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2700"/>
          </a:xfrm>
          <a:prstGeom prst="rect">
            <a:avLst/>
          </a:prstGeom>
          <a:solidFill>
            <a:srgbClr val="E1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03020"/>
            <a:ext cx="2377440" cy="2286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Smith &amp; Topin · Super-Convergence · arXiv:1708.07120v3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04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2558719" cy="283464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55648"/>
            <a:ext cx="219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672"/>
                </a:solidFill>
                <a:latin typeface="Calibri"/>
              </a:rPr>
              <a:t>WEIGHT DECAY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011680"/>
            <a:ext cx="2192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17506E"/>
                </a:solidFill>
                <a:latin typeface="serif"/>
              </a:rPr>
              <a:t>1e-4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15184"/>
            <a:ext cx="2192959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30" b="0" i="0">
                <a:solidFill>
                  <a:srgbClr val="1C2430"/>
                </a:solidFill>
                <a:latin typeface="Calibri"/>
              </a:rPr>
              <a:t>При 1e-3 супер-сходимость ломается: сеть почти не различает классы в середине цикла. 1e-4 рабочий уровень (Fig. 12b).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9967" y="1572768"/>
            <a:ext cx="2558719" cy="283464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2847" y="1755648"/>
            <a:ext cx="219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672"/>
                </a:solidFill>
                <a:latin typeface="Calibri"/>
              </a:rPr>
              <a:t>BATCH NORM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2847" y="2011680"/>
            <a:ext cx="2192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17506E"/>
                </a:solidFill>
                <a:latin typeface="serif"/>
              </a:rPr>
              <a:t>MAF 0,95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2847" y="2615184"/>
            <a:ext cx="2192959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30" b="0" i="0">
                <a:solidFill>
                  <a:srgbClr val="1C2430"/>
                </a:solidFill>
                <a:latin typeface="Calibri"/>
              </a:rPr>
              <a:t>За 10k обновлений стандартная бегущая статистика (0,999) не успевает перестроиться. Авторы снижают MAF до 0,95; длина цикла и MAF подбираются вместе (Table 6).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572768"/>
            <a:ext cx="2558719" cy="283464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1755648"/>
            <a:ext cx="219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672"/>
                </a:solidFill>
                <a:latin typeface="Calibri"/>
              </a:rPr>
              <a:t>BATCH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2011680"/>
            <a:ext cx="2192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17506E"/>
                </a:solidFill>
                <a:latin typeface="serif"/>
              </a:rPr>
              <a:t>1000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2615184"/>
            <a:ext cx="2192959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30" b="0" i="0">
                <a:solidFill>
                  <a:srgbClr val="1C2430"/>
                </a:solidFill>
                <a:latin typeface="Calibri"/>
              </a:rPr>
              <a:t>92,4 % при batch 1000 против 89,5 % при 256 и 92,1 % при 1536 (Table 7). Больший batch в этом рецепте помогает.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6047" y="1572768"/>
            <a:ext cx="2558719" cy="283464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8927" y="1755648"/>
            <a:ext cx="219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672"/>
                </a:solidFill>
                <a:latin typeface="Calibri"/>
              </a:rPr>
              <a:t>MOMENTUM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8927" y="2011680"/>
            <a:ext cx="2192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17506E"/>
                </a:solidFill>
                <a:latin typeface="serif"/>
              </a:rPr>
              <a:t>0,9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8927" y="2615184"/>
            <a:ext cx="2192959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30" b="0" i="0">
                <a:solidFill>
                  <a:srgbClr val="1C2430"/>
                </a:solidFill>
                <a:latin typeface="Calibri"/>
              </a:rPr>
              <a:t>Лучший измеренный: 92,4 % против 90,7 % при 0,95 (Table 8). Универсальный оптимум из этого не следует.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681728"/>
            <a:ext cx="11057839" cy="141732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864608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300" b="1" i="0">
                <a:solidFill>
                  <a:srgbClr val="1C2430"/>
                </a:solidFill>
                <a:latin typeface="Calibri"/>
              </a:rPr>
              <a:t>Как это объясняют авторы (Appendix A): </a:t>
            </a:r>
            <a:r>
              <a:rPr sz="1300" b="0" i="0">
                <a:solidFill>
                  <a:srgbClr val="1C2430"/>
                </a:solidFill>
                <a:latin typeface="Calibri"/>
              </a:rPr>
              <a:t>большой шаг выводит обучение в плоскую область loss (иллюстрация Goodfellow et al.), плюс шум градиентов на больших LR действует как регуляризация. Это интерпретация, а не измеренное свойство сети.</a:t>
            </a: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300" b="1" i="0">
                <a:solidFill>
                  <a:srgbClr val="1C2430"/>
                </a:solidFill>
                <a:latin typeface="Calibri"/>
              </a:rPr>
              <a:t>Границы: </a:t>
            </a:r>
            <a:r>
              <a:rPr sz="1300" b="0" i="0">
                <a:solidFill>
                  <a:srgbClr val="1C2430"/>
                </a:solidFill>
                <a:latin typeface="Calibri"/>
              </a:rPr>
              <a:t>с Adam эффекта получить не удалось (Fig. 9); для bottleneck-блоков устойчивый LR заметно меньше 3 (Fig. 13). Большие LR не универсальны.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7506E"/>
                </a:solidFill>
                <a:latin typeface="Calibri"/>
              </a:rPr>
              <a:t>01 · ИНСТРУМЕНТЫ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66" b="1" i="0">
                <a:solidFill>
                  <a:srgbClr val="1C2430"/>
                </a:solidFill>
                <a:latin typeface="serif"/>
              </a:rPr>
              <a:t>LR range test находит область, формула (8) её объясняет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2700"/>
          </a:xfrm>
          <a:prstGeom prst="rect">
            <a:avLst/>
          </a:prstGeom>
          <a:solidFill>
            <a:srgbClr val="E1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03020"/>
            <a:ext cx="2377440" cy="2286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Smith &amp; Topin · Super-Convergence · arXiv:1708.07120v3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05 / 16</a:t>
            </a:r>
          </a:p>
        </p:txBody>
      </p:sp>
      <p:pic>
        <p:nvPicPr>
          <p:cNvPr id="8" name="Picture 7" descr="fig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19200"/>
            <a:ext cx="4846320" cy="3419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30352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672"/>
                </a:solidFill>
                <a:latin typeface="Calibri"/>
              </a:rPr>
              <a:t>Figure 2b статьи: range test на ResNet-56, ramps 5k/20k/100k итераций.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572768"/>
            <a:ext cx="577260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30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300" b="1" i="0">
                <a:solidFill>
                  <a:srgbClr val="1C2430"/>
                </a:solidFill>
                <a:latin typeface="Calibri"/>
              </a:rPr>
              <a:t>Range test: </a:t>
            </a:r>
            <a:r>
              <a:rPr sz="1300" b="0" i="0">
                <a:solidFill>
                  <a:srgbClr val="1C2430"/>
                </a:solidFill>
                <a:latin typeface="Calibri"/>
              </a:rPr>
              <a:t>линейно растить LR в течение короткого прогона и смотреть на loss/accuracy. Точность не падает вплоть до 3,0: сеть допускает шаги на порядок больше обычных.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30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300" b="1" i="0">
                <a:solidFill>
                  <a:srgbClr val="1C2430"/>
                </a:solidFill>
                <a:latin typeface="Calibri"/>
              </a:rPr>
              <a:t>Практика статьи: </a:t>
            </a:r>
            <a:r>
              <a:rPr sz="1300" b="0" i="0">
                <a:solidFill>
                  <a:srgbClr val="1C2430"/>
                </a:solidFill>
                <a:latin typeface="Calibri"/>
              </a:rPr>
              <a:t>range test идёт перед супер-сходящимся обучением и задаёт max_lr.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3063240"/>
            <a:ext cx="5772607" cy="1298448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3218688"/>
            <a:ext cx="53154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C2430"/>
                </a:solidFill>
                <a:latin typeface="Calibri"/>
              </a:rPr>
              <a:t>Секущая оценка шага (формула 8):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566160"/>
            <a:ext cx="531540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7506E"/>
                </a:solidFill>
                <a:latin typeface="mono"/>
              </a:rPr>
              <a:t>eta* = eta · Σ|theta[i+1] − theta[i]| / Σ|2·theta[i+1] − theta[i] − theta[i+2]|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572000"/>
            <a:ext cx="577260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250" b="0" i="0">
                <a:solidFill>
                  <a:srgbClr val="1C2430"/>
                </a:solidFill>
                <a:latin typeface="Calibri"/>
              </a:rPr>
              <a:t>Три последовательных вектора весов дают оценку кривизны без обращения Hessian; поверх применяется EMA (alpha 0,1).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250" b="1" i="0">
                <a:solidFill>
                  <a:srgbClr val="1C2430"/>
                </a:solidFill>
                <a:latin typeface="Calibri"/>
              </a:rPr>
              <a:t>Для ResNet-56 авторы получают 2-6 </a:t>
            </a:r>
            <a:r>
              <a:rPr sz="1250" b="0" i="0">
                <a:solidFill>
                  <a:srgbClr val="1C2430"/>
                </a:solidFill>
                <a:latin typeface="Calibri"/>
              </a:rPr>
              <a:t>уже за первые 300 итераций: большие LR теоретически оправданы, кривизна вдоль спуска мала.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250" b="0" i="0">
                <a:solidFill>
                  <a:srgbClr val="5C6672"/>
                </a:solidFill>
                <a:latin typeface="Calibri"/>
              </a:rPr>
              <a:t>Оценка приближённая; полная версия статьи оставляет адаптивный optimizer на будущее.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7506E"/>
                </a:solidFill>
                <a:latin typeface="Calibri"/>
              </a:rPr>
              <a:t>02 · ВОСПРОИЗВЕДЕНИЕ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1C2430"/>
                </a:solidFill>
                <a:latin typeface="serif"/>
              </a:rPr>
              <a:t>Что я воспроизводил и в какой постановке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2700"/>
          </a:xfrm>
          <a:prstGeom prst="rect">
            <a:avLst/>
          </a:prstGeom>
          <a:solidFill>
            <a:srgbClr val="E1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03020"/>
            <a:ext cx="2377440" cy="2286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Smith &amp; Topin · Super-Convergence · arXiv:1708.07120v3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06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5300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7506E"/>
                </a:solidFill>
                <a:latin typeface="Calibri"/>
              </a:rPr>
              <a:t>В объёме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20240"/>
            <a:ext cx="530031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130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300" b="1" i="0">
                <a:solidFill>
                  <a:srgbClr val="1C2430"/>
                </a:solidFill>
                <a:latin typeface="Calibri"/>
              </a:rPr>
              <a:t>MNIST / LeNet: </a:t>
            </a:r>
            <a:r>
              <a:rPr sz="1300" b="0" i="0">
                <a:solidFill>
                  <a:srgbClr val="1C2430"/>
                </a:solidFill>
                <a:latin typeface="Calibri"/>
              </a:rPr>
              <a:t>inverse policy (85 эпох) против трёхфазного 1cycle (12 эпох), 3 seed + контроль с постоянным momentum.</a:t>
            </a:r>
          </a:p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130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300" b="1" i="0">
                <a:solidFill>
                  <a:srgbClr val="1C2430"/>
                </a:solidFill>
                <a:latin typeface="Calibri"/>
              </a:rPr>
              <a:t>CIFAR-10 / ResNet-20: </a:t>
            </a:r>
            <a:r>
              <a:rPr sz="1300" b="0" i="0">
                <a:solidFill>
                  <a:srgbClr val="1C2430"/>
                </a:solidFill>
                <a:latin typeface="Calibri"/>
              </a:rPr>
              <a:t>CLR 20k против PC 80k, 3 seed. Бюджеты с Fig. 4b.</a:t>
            </a:r>
          </a:p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130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300" b="1" i="0">
                <a:solidFill>
                  <a:srgbClr val="1C2430"/>
                </a:solidFill>
                <a:latin typeface="Calibri"/>
              </a:rPr>
              <a:t>CIFAR-10 / ResNet-56: </a:t>
            </a:r>
            <a:r>
              <a:rPr sz="1300" b="0" i="0">
                <a:solidFill>
                  <a:srgbClr val="1C2430"/>
                </a:solidFill>
                <a:latin typeface="Calibri"/>
              </a:rPr>
              <a:t>центральная пара статьи: CLR 10k против PC 80k, seed 0.</a:t>
            </a:r>
          </a:p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130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300" b="1" i="0">
                <a:solidFill>
                  <a:srgbClr val="1C2430"/>
                </a:solidFill>
                <a:latin typeface="Calibri"/>
              </a:rPr>
              <a:t>Диагностика: </a:t>
            </a:r>
            <a:r>
              <a:rPr sz="1300" b="0" i="0">
                <a:solidFill>
                  <a:srgbClr val="1C2430"/>
                </a:solidFill>
                <a:latin typeface="Calibri"/>
              </a:rPr>
              <a:t>LR range test (LeNet, ResNet-56), секущая оценка LR, расписания и loss.</a:t>
            </a:r>
          </a:p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130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300" b="1" i="0">
                <a:solidFill>
                  <a:srgbClr val="1C2430"/>
                </a:solidFill>
                <a:latin typeface="Calibri"/>
              </a:rPr>
              <a:t>Абляции: </a:t>
            </a:r>
            <a:r>
              <a:rPr sz="1300" b="0" i="0">
                <a:solidFill>
                  <a:srgbClr val="1C2430"/>
                </a:solidFill>
                <a:latin typeface="Calibri"/>
              </a:rPr>
              <a:t>weight decay, пик LR, накопление BN, объём данных (10k/25k), 20k обновлений, seed 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1554480"/>
            <a:ext cx="5300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5C6672"/>
                </a:solidFill>
                <a:latin typeface="Calibri"/>
              </a:rPr>
              <a:t>Вне объёма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1920240"/>
            <a:ext cx="530031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130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300" b="0" i="0">
                <a:solidFill>
                  <a:srgbClr val="5C6672"/>
                </a:solidFill>
                <a:latin typeface="Calibri"/>
              </a:rPr>
              <a:t>ImageNet, CIFAR-100, Wide-ResNet, DenseNet, ResNeXt, dropout-свитчи.</a:t>
            </a:r>
          </a:p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130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300" b="0" i="0">
                <a:solidFill>
                  <a:srgbClr val="5C6672"/>
                </a:solidFill>
                <a:latin typeface="Calibri"/>
              </a:rPr>
              <a:t>Много-GPU BN, как у авторов (batch 125 × 8 GPU); у меня BN считается на полном batch 1000 на одном GPU.</a:t>
            </a:r>
          </a:p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130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300" b="0" i="0">
                <a:solidFill>
                  <a:srgbClr val="5C6672"/>
                </a:solidFill>
                <a:latin typeface="Calibri"/>
              </a:rPr>
              <a:t>Повторные seed для ResNet-56: пара PC/CLR в один запуск.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892040"/>
            <a:ext cx="11057839" cy="123444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5056631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5C6672"/>
                </a:solidFill>
                <a:latin typeface="Calibri"/>
              </a:rPr>
              <a:t>ПРОТОКОЛ СРАВНЕНИЙ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5349240"/>
            <a:ext cx="105091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1C2430"/>
                </a:solidFill>
                <a:latin typeface="Calibri"/>
              </a:rPr>
              <a:t>Метрика: accuracy последнего checkpoint после полного бюджета на всех 10 000 test-изображений. Test не участвует в подборе. Семена 0/1/2, deterministic cuDNN. Среднее ± выборочное std, не доверительный интервал. Окружение: NVIDIA H100, PyTorch 2.14, порт протокола Caffe.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7506E"/>
                </a:solidFill>
                <a:latin typeface="Calibri"/>
              </a:rPr>
              <a:t>02 · ПЕРЕНОС CAFFE →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52" b="1" i="0">
                <a:solidFill>
                  <a:srgbClr val="1C2430"/>
                </a:solidFill>
                <a:latin typeface="serif"/>
              </a:rPr>
              <a:t>Чтобы сравнивать расписания, нужно перенести протокол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2700"/>
          </a:xfrm>
          <a:prstGeom prst="rect">
            <a:avLst/>
          </a:prstGeom>
          <a:solidFill>
            <a:srgbClr val="E1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03020"/>
            <a:ext cx="2377440" cy="2286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Smith &amp; Topin · Super-Convergence · arXiv:1708.07120v3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07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2646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C2430"/>
                </a:solidFill>
                <a:latin typeface="Calibri"/>
              </a:rPr>
              <a:t>Блок ResNet по Table 3 и prototxt авторов: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658368" cy="402336"/>
          </a:xfrm>
          <a:prstGeom prst="roundRect">
            <a:avLst>
              <a:gd name="adj" fmla="val 16000"/>
            </a:avLst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783080"/>
            <a:ext cx="6583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Conv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1783080"/>
            <a:ext cx="658368" cy="402336"/>
          </a:xfrm>
          <a:prstGeom prst="roundRect">
            <a:avLst>
              <a:gd name="adj" fmla="val 16000"/>
            </a:avLst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1783080"/>
            <a:ext cx="6583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BN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93392" y="1783080"/>
            <a:ext cx="658368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175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93392" y="1783080"/>
            <a:ext cx="6583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C2430"/>
                </a:solidFill>
                <a:latin typeface="Calibri"/>
              </a:rPr>
              <a:t>ReLU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06624" y="1783080"/>
            <a:ext cx="658368" cy="402336"/>
          </a:xfrm>
          <a:prstGeom prst="roundRect">
            <a:avLst>
              <a:gd name="adj" fmla="val 16000"/>
            </a:avLst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6624" y="1783080"/>
            <a:ext cx="6583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Conv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9856" y="1783080"/>
            <a:ext cx="658368" cy="402336"/>
          </a:xfrm>
          <a:prstGeom prst="roundRect">
            <a:avLst>
              <a:gd name="adj" fmla="val 16000"/>
            </a:avLst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9856" y="1783080"/>
            <a:ext cx="6583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BN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3088" y="1783080"/>
            <a:ext cx="658368" cy="402336"/>
          </a:xfrm>
          <a:prstGeom prst="roundRect">
            <a:avLst>
              <a:gd name="adj" fmla="val 16000"/>
            </a:avLst>
          </a:prstGeom>
          <a:solidFill>
            <a:srgbClr val="B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33088" y="1783080"/>
            <a:ext cx="6583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1783080"/>
            <a:ext cx="658368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175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1783080"/>
            <a:ext cx="6583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C2430"/>
                </a:solidFill>
                <a:latin typeface="Calibri"/>
              </a:rPr>
              <a:t>ReLU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350008"/>
            <a:ext cx="3566160" cy="12700"/>
          </a:xfrm>
          <a:prstGeom prst="rect">
            <a:avLst/>
          </a:prstGeom>
          <a:solidFill>
            <a:srgbClr val="E1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242316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5C6672"/>
                </a:solidFill>
                <a:latin typeface="Calibri"/>
              </a:rPr>
              <a:t>shortcut идёт прямо в Sum: лишней ReLU перед сложением нет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01752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</a:rPr>
              <a:t>Downsampling (Table 4): </a:t>
            </a:r>
            <a:r>
              <a:rPr sz="1250" b="0" i="0">
                <a:solidFill>
                  <a:srgbClr val="1C2430"/>
                </a:solidFill>
                <a:latin typeface="Calibri"/>
              </a:rPr>
              <a:t>свёртки сохраняют старую ширину, stride 2 у первой; shortcut через average pooling 3×3 без padding; сначала Sum и ReLU, затем дописываются нулевые каналы.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</a:rPr>
              <a:t>Первая свёртка stride 1: </a:t>
            </a:r>
            <a:r>
              <a:rPr sz="1250" b="0" i="0">
                <a:solidFill>
                  <a:srgbClr val="1C2430"/>
                </a:solidFill>
                <a:latin typeface="Calibri"/>
              </a:rPr>
              <a:t>в Table 5 PDF стоит stride 2, но это противоречит финальному average pooling 8×8; исполняемый prototxt авторов подтверждает stride 1.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1554480"/>
            <a:ext cx="5635447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5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250" b="1" i="0">
                <a:solidFill>
                  <a:srgbClr val="1C2430"/>
                </a:solidFill>
                <a:latin typeface="Calibri"/>
              </a:rPr>
              <a:t>BatchNorm по Caffe: </a:t>
            </a:r>
            <a:r>
              <a:rPr sz="1250" b="0" i="0">
                <a:solidFill>
                  <a:srgbClr val="1C2430"/>
                </a:solidFill>
                <a:latin typeface="Calibri"/>
              </a:rPr>
              <a:t>накопительные mean/var и нормализующий множитель; MAF 0,95 = мой bn-momentum 0,05 (вес нового наблюдения).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5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250" b="1" i="0">
                <a:solidFill>
                  <a:srgbClr val="1C2430"/>
                </a:solidFill>
                <a:latin typeface="Calibri"/>
              </a:rPr>
              <a:t>SGD: </a:t>
            </a:r>
            <a:r>
              <a:rPr sz="1250" b="0" i="0">
                <a:solidFill>
                  <a:srgbClr val="1C2430"/>
                </a:solidFill>
                <a:latin typeface="Calibri"/>
              </a:rPr>
              <a:t>закон momentum Caffe h = μ·h + LR·g пересчитан под переменный LR; у PyTorch история масштабируется иначе.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5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250" b="1" i="0">
                <a:solidFill>
                  <a:srgbClr val="1C2430"/>
                </a:solidFill>
                <a:latin typeface="Calibri"/>
              </a:rPr>
              <a:t>Bias и decay: </a:t>
            </a:r>
            <a:r>
              <a:rPr sz="1250" b="0" i="0">
                <a:solidFill>
                  <a:srgbClr val="1C2430"/>
                </a:solidFill>
                <a:latin typeface="Calibri"/>
              </a:rPr>
              <a:t>lr_mult 2 для bias, у conv bias decay нет; инициализация MSRA.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5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250" b="1" i="0">
                <a:solidFill>
                  <a:srgbClr val="1C2430"/>
                </a:solidFill>
                <a:latin typeface="Calibri"/>
              </a:rPr>
              <a:t>Данные: </a:t>
            </a:r>
            <a:r>
              <a:rPr sz="1250" b="0" i="0">
                <a:solidFill>
                  <a:srgbClr val="1C2430"/>
                </a:solidFill>
                <a:latin typeface="Calibri"/>
              </a:rPr>
              <a:t>пиксели 0-255, вычитание mean image, затем horizontal flip (как Caffe DataTransformer); только полные batch: 50 upd/epoch CIFAR, 117 MNIST.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5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250" b="1" i="0">
                <a:solidFill>
                  <a:srgbClr val="1C2430"/>
                </a:solidFill>
                <a:latin typeface="Calibri"/>
              </a:rPr>
              <a:t>Проверка: </a:t>
            </a:r>
            <a:r>
              <a:rPr sz="1250" b="0" i="0">
                <a:solidFill>
                  <a:srgbClr val="1C2430"/>
                </a:solidFill>
                <a:latin typeface="Calibri"/>
              </a:rPr>
              <a:t>check_solution.py покрывает блоки, BN, границы расписаний, LR-множители и порядок шагов momentum.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5623560"/>
            <a:ext cx="5635447" cy="566928"/>
          </a:xfrm>
          <a:prstGeom prst="roundRect">
            <a:avLst>
              <a:gd name="adj" fmla="val 10000"/>
            </a:avLst>
          </a:prstGeom>
          <a:solidFill>
            <a:srgbClr val="F7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5623560"/>
            <a:ext cx="52696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C2430"/>
                </a:solidFill>
                <a:latin typeface="Calibri"/>
              </a:rPr>
              <a:t>Главная адаптация: BN на полном batch 1000 на одном GPU вместо ~125 на восьми. Это может влиять на устойчивость, и я это не изолировал.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7506E"/>
                </a:solidFill>
                <a:latin typeface="Calibri"/>
              </a:rPr>
              <a:t>03 · РЕЗУЛЬТАТЫ: MNIST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78" b="1" i="0">
                <a:solidFill>
                  <a:srgbClr val="1C2430"/>
                </a:solidFill>
                <a:latin typeface="serif"/>
              </a:rPr>
              <a:t>12 эпох против 85: воспроизводится по форме, чуть ниже по числу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2700"/>
          </a:xfrm>
          <a:prstGeom prst="rect">
            <a:avLst/>
          </a:prstGeom>
          <a:solidFill>
            <a:srgbClr val="E1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03020"/>
            <a:ext cx="2377440" cy="2286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Smith &amp; Topin · Super-Convergence · arXiv:1708.07120v3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08 / 16</a:t>
            </a:r>
          </a:p>
        </p:txBody>
      </p:sp>
      <p:pic>
        <p:nvPicPr>
          <p:cNvPr id="8" name="Picture 7" descr="mn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2171700"/>
            <a:ext cx="7223760" cy="2889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74243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672"/>
                </a:solidFill>
                <a:latin typeface="Calibri"/>
              </a:rPr>
              <a:t>Мои запуски, 3 seed, финальные checkpoint; слева полная шкала, справа зум 98,5-99,6 %.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691640"/>
            <a:ext cx="35323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672"/>
                </a:solidFill>
                <a:latin typeface="Calibri"/>
              </a:rPr>
              <a:t>INVERSE, 85 ЭПОХ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929384"/>
            <a:ext cx="35323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17506E"/>
                </a:solidFill>
                <a:latin typeface="serif"/>
              </a:rPr>
              <a:t>99,04 ± 0,01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368296"/>
            <a:ext cx="35323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C6672"/>
                </a:solidFill>
                <a:latin typeface="Calibri"/>
              </a:rPr>
              <a:t>у авторов: 99,03 ± 0,04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862072"/>
            <a:ext cx="35323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672"/>
                </a:solidFill>
                <a:latin typeface="Calibri"/>
              </a:rPr>
              <a:t>1CYCLE + CM, 12 ЭПОХ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099815"/>
            <a:ext cx="35323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17506E"/>
                </a:solidFill>
                <a:latin typeface="serif"/>
              </a:rPr>
              <a:t>99,15 ± 0,08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538728"/>
            <a:ext cx="35323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C6672"/>
                </a:solidFill>
                <a:latin typeface="Calibri"/>
              </a:rPr>
              <a:t>у авторов: 99,25 ± 0,03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032504"/>
            <a:ext cx="35323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672"/>
                </a:solidFill>
                <a:latin typeface="Calibri"/>
              </a:rPr>
              <a:t>1CYCLE, MOM CONST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270248"/>
            <a:ext cx="35323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17506E"/>
                </a:solidFill>
                <a:latin typeface="serif"/>
              </a:rPr>
              <a:t>99,18 ± 0,07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709160"/>
            <a:ext cx="35323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C6672"/>
                </a:solidFill>
                <a:latin typeface="Calibri"/>
              </a:rPr>
              <a:t>контроль: momentum 0,9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5111496"/>
            <a:ext cx="3532327" cy="12700"/>
          </a:xfrm>
          <a:prstGeom prst="rect">
            <a:avLst/>
          </a:prstGeom>
          <a:solidFill>
            <a:srgbClr val="E1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5248656"/>
            <a:ext cx="353232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1C2430"/>
                </a:solidFill>
                <a:latin typeface="Calibri"/>
              </a:rPr>
              <a:t>Базовая линия сошлась почти дословно с таблицей 2. 1cycle отстаёт от 99,25 примерно на 0,1 п.п. при 7× меньшем бюджете (1 404 обновления против 9 945). Постоянный momentum не хуже цикла 0,95 → 0,8.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7506E"/>
                </a:solidFill>
                <a:latin typeface="Calibri"/>
              </a:rPr>
              <a:t>03 · РЕЗУЛЬТАТЫ: RESNET-20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47" b="1" i="0">
                <a:solidFill>
                  <a:srgbClr val="1C2430"/>
                </a:solidFill>
                <a:latin typeface="serif"/>
              </a:rPr>
              <a:t>Главное сравнение: CLR выше PC при четырёхкратно меньшем бюджете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2700"/>
          </a:xfrm>
          <a:prstGeom prst="rect">
            <a:avLst/>
          </a:prstGeom>
          <a:solidFill>
            <a:srgbClr val="E1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03020"/>
            <a:ext cx="2377440" cy="2286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Smith &amp; Topin · Super-Convergence · arXiv:1708.07120v3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09 / 16</a:t>
            </a:r>
          </a:p>
        </p:txBody>
      </p:sp>
      <p:pic>
        <p:nvPicPr>
          <p:cNvPr id="8" name="Picture 7" descr="cif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2171700"/>
            <a:ext cx="7223760" cy="2889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74243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672"/>
                </a:solidFill>
                <a:latin typeface="Calibri"/>
              </a:rPr>
              <a:t>Полные траектории test accuracy, 3 seed, полосы ± выборочное std; точки финальные checkpoint.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645920"/>
            <a:ext cx="3532327" cy="1371600"/>
          </a:xfrm>
          <a:prstGeom prst="roundRect">
            <a:avLst>
              <a:gd name="adj" fmla="val 5500"/>
            </a:avLst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1792224"/>
            <a:ext cx="3129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672"/>
                </a:solidFill>
                <a:latin typeface="Calibri"/>
              </a:rPr>
              <a:t>CLR · 20 000 ОБНОВЛЕНИЙ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2048256"/>
            <a:ext cx="31299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17506E"/>
                </a:solidFill>
                <a:latin typeface="serif"/>
              </a:rPr>
              <a:t>91,36 ± 0,26 %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359152"/>
            <a:ext cx="312999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2430"/>
                </a:solidFill>
                <a:latin typeface="Calibri"/>
              </a:rPr>
              <a:t>LR 0,1 → 3 → 0,1, stepsize 10k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154680"/>
            <a:ext cx="3532327" cy="1371600"/>
          </a:xfrm>
          <a:prstGeom prst="roundRect">
            <a:avLst>
              <a:gd name="adj" fmla="val 5500"/>
            </a:avLst>
          </a:prstGeom>
          <a:solidFill>
            <a:srgbClr val="F7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3300984"/>
            <a:ext cx="3129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672"/>
                </a:solidFill>
                <a:latin typeface="Calibri"/>
              </a:rPr>
              <a:t>PC · 80 000 ОБНОВЛЕНИЙ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3557016"/>
            <a:ext cx="31299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B4632A"/>
                </a:solidFill>
                <a:latin typeface="serif"/>
              </a:rPr>
              <a:t>89,35 ± 0,15 %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867912"/>
            <a:ext cx="312999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C2430"/>
                </a:solidFill>
                <a:latin typeface="Calibri"/>
              </a:rPr>
              <a:t>LR 0,35, drops ×0,1 на 50k/70k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526280"/>
            <a:ext cx="3532327" cy="17830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4663440"/>
            <a:ext cx="3129991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450" b="1" i="0">
                <a:solidFill>
                  <a:srgbClr val="17506E"/>
                </a:solidFill>
                <a:latin typeface="Calibri"/>
              </a:rPr>
              <a:t>+2,01 п.п.</a:t>
            </a:r>
            <a:r>
              <a:rPr sz="1130" b="0" i="0">
                <a:solidFill>
                  <a:srgbClr val="1C2430"/>
                </a:solidFill>
                <a:latin typeface="Calibri"/>
              </a:rPr>
              <a:t> при 4× меньшем числе обновлений; разрыв больше разброса seed. Часть отставания PC - недообученный baseline: его train растёт вплоть до 80k.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60" b="0" i="0">
                <a:solidFill>
                  <a:srgbClr val="5C6672"/>
                </a:solidFill>
                <a:latin typeface="Calibri"/>
              </a:rPr>
              <a:t>Время (1212 с против 4938 с) - не бенчмарк: общий сервер, параллельные процессы.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7506E"/>
                </a:solidFill>
                <a:latin typeface="Calibri"/>
              </a:rPr>
              <a:t>03 · РЕЗУЛЬТАТЫ: RESNET-56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1C2430"/>
                </a:solidFill>
                <a:latin typeface="serif"/>
              </a:rPr>
              <a:t>Центральная пара статьи: 10k против 80k обновлений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2700"/>
          </a:xfrm>
          <a:prstGeom prst="rect">
            <a:avLst/>
          </a:prstGeom>
          <a:solidFill>
            <a:srgbClr val="E1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03020"/>
            <a:ext cx="2377440" cy="2286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Smith &amp; Topin · Super-Convergence · arXiv:1708.07120v3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10 / 16</a:t>
            </a:r>
          </a:p>
        </p:txBody>
      </p:sp>
      <p:pic>
        <p:nvPicPr>
          <p:cNvPr id="8" name="Picture 7" descr="r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2171700"/>
            <a:ext cx="7223760" cy="2889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74243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672"/>
                </a:solidFill>
                <a:latin typeface="Calibri"/>
              </a:rPr>
              <a:t>ResNet-56, seed 0. CLR 10k (MAF 0,95) против PC 80k (MAF 0,999), бюджеты как в Fig. 1a.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645920"/>
            <a:ext cx="35323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672"/>
                </a:solidFill>
                <a:latin typeface="Calibri"/>
              </a:rPr>
              <a:t>CLR · 10 000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865376"/>
            <a:ext cx="353232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17506E"/>
                </a:solidFill>
                <a:latin typeface="serif"/>
              </a:rPr>
              <a:t>92,78 %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286000"/>
            <a:ext cx="35323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C6672"/>
                </a:solidFill>
                <a:latin typeface="Calibri"/>
              </a:rPr>
              <a:t>у авторов: 92,4 %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697480"/>
            <a:ext cx="35323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672"/>
                </a:solidFill>
                <a:latin typeface="Calibri"/>
              </a:rPr>
              <a:t>PC · 80 000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916936"/>
            <a:ext cx="353232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17506E"/>
                </a:solidFill>
                <a:latin typeface="serif"/>
              </a:rPr>
              <a:t>90,15 %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337560"/>
            <a:ext cx="35323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C6672"/>
                </a:solidFill>
                <a:latin typeface="Calibri"/>
              </a:rPr>
              <a:t>у авторов: 91,2 %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794759"/>
            <a:ext cx="3532327" cy="1783080"/>
          </a:xfrm>
          <a:prstGeom prst="roundRect">
            <a:avLst>
              <a:gd name="adj" fmla="val 7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3950207"/>
            <a:ext cx="3129991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1C2430"/>
                </a:solidFill>
                <a:latin typeface="Calibri"/>
              </a:rPr>
              <a:t>CLR-плечо даже выше статьи, PC ниже на 1 п.п. Плечи различаются не только LR, но и BN MAF (рецепт против рецепта). Один seed: сравниваю числа, а не распределения.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7506E"/>
                </a:solidFill>
                <a:latin typeface="Calibri"/>
              </a:rPr>
              <a:t>04 · ДИАГНОСТИКА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1C2430"/>
                </a:solidFill>
                <a:latin typeface="serif"/>
              </a:rPr>
              <a:t>LR range test: оба прогона дошли до конца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2700"/>
          </a:xfrm>
          <a:prstGeom prst="rect">
            <a:avLst/>
          </a:prstGeom>
          <a:solidFill>
            <a:srgbClr val="E1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03020"/>
            <a:ext cx="2377440" cy="2286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Smith &amp; Topin · Super-Convergence · arXiv:1708.07120v3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11 / 16</a:t>
            </a:r>
          </a:p>
        </p:txBody>
      </p:sp>
      <p:pic>
        <p:nvPicPr>
          <p:cNvPr id="8" name="Picture 7" descr="range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98017"/>
            <a:ext cx="5346039" cy="2004764"/>
          </a:xfrm>
          <a:prstGeom prst="rect">
            <a:avLst/>
          </a:prstGeom>
        </p:spPr>
      </p:pic>
      <p:pic>
        <p:nvPicPr>
          <p:cNvPr id="9" name="Picture 8" descr="range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2198017"/>
            <a:ext cx="5346039" cy="20047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029200"/>
            <a:ext cx="5346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i="0">
                <a:solidFill>
                  <a:srgbClr val="1C2430"/>
                </a:solidFill>
                <a:latin typeface="Calibri"/>
              </a:rPr>
              <a:t>range_lenet</a:t>
            </a:r>
            <a:r>
              <a:rPr sz="1150" b="0" i="0">
                <a:solidFill>
                  <a:srgbClr val="5C6672"/>
                </a:solidFill>
                <a:latin typeface="Calibri"/>
              </a:rPr>
              <a:t>  ·  1200/1200 шагов, completed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1C2430"/>
                </a:solidFill>
                <a:latin typeface="Calibri"/>
              </a:rPr>
              <a:t>Минимум EMA train loss: обновление 851 при LR 0,357.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5029200"/>
            <a:ext cx="5346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i="0">
                <a:solidFill>
                  <a:srgbClr val="1C2430"/>
                </a:solidFill>
                <a:latin typeface="Calibri"/>
              </a:rPr>
              <a:t>range_resnet56</a:t>
            </a:r>
            <a:r>
              <a:rPr sz="1150" b="0" i="0">
                <a:solidFill>
                  <a:srgbClr val="5C6672"/>
                </a:solidFill>
                <a:latin typeface="Calibri"/>
              </a:rPr>
              <a:t>  ·  5000/5000 шагов, completed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1C2430"/>
                </a:solidFill>
                <a:latin typeface="Calibri"/>
              </a:rPr>
              <a:t>Минимум EMA train loss: обновление 2574 при LR 1,593.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870448"/>
            <a:ext cx="11057839" cy="475488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5870448"/>
            <a:ext cx="1060063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C2430"/>
                </a:solidFill>
                <a:latin typeface="Calibri"/>
              </a:rPr>
              <a:t>Критерий - train loss, не test accuracy. Бюджеты основных запусков взяты из рецептов статьи; правило «10 × индекс минимума» в v3 отсутствует и у меня не использовалось.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7506E"/>
                </a:solidFill>
                <a:latin typeface="Calibri"/>
              </a:rPr>
              <a:t>04 · ДИАГНОСТИКА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66" b="1" i="0">
                <a:solidFill>
                  <a:srgbClr val="1C2430"/>
                </a:solidFill>
                <a:latin typeface="serif"/>
              </a:rPr>
              <a:t>Секущая оценка LR: форма есть, диапазон 2-6 отсутствует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2700"/>
          </a:xfrm>
          <a:prstGeom prst="rect">
            <a:avLst/>
          </a:prstGeom>
          <a:solidFill>
            <a:srgbClr val="E1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03020"/>
            <a:ext cx="2377440" cy="2286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Smith &amp; Topin · Super-Convergence · arXiv:1708.07120v3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12 / 16</a:t>
            </a:r>
          </a:p>
        </p:txBody>
      </p:sp>
      <p:pic>
        <p:nvPicPr>
          <p:cNvPr id="8" name="Picture 7" descr="hessian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05692"/>
            <a:ext cx="7223760" cy="29551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257800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C6672"/>
                </a:solidFill>
                <a:latin typeface="Calibri"/>
              </a:rPr>
              <a:t>Оценка (8) с EMA 0,1, первые 300 обновлений: constant LR 0,1 и rising LR на ResNet-56.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691640"/>
            <a:ext cx="3532327" cy="146304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1" y="1737360"/>
            <a:ext cx="11303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5C6672"/>
                </a:solidFill>
                <a:latin typeface="Calibri"/>
              </a:rPr>
              <a:t>режим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9088" y="1737360"/>
            <a:ext cx="12009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5C6672"/>
                </a:solidFill>
                <a:latin typeface="Calibri"/>
              </a:rPr>
              <a:t>параметры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22438" y="1737360"/>
            <a:ext cx="12009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5C6672"/>
                </a:solidFill>
                <a:latin typeface="Calibri"/>
              </a:rPr>
              <a:t>+ BN-статистики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194560"/>
            <a:ext cx="11303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C2430"/>
                </a:solidFill>
                <a:latin typeface="Calibri"/>
              </a:rPr>
              <a:t>constant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9088" y="2194560"/>
            <a:ext cx="12009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7506E"/>
                </a:solidFill>
                <a:latin typeface="Calibri"/>
              </a:rPr>
              <a:t>0,173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22438" y="2194560"/>
            <a:ext cx="12009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7506E"/>
                </a:solidFill>
                <a:latin typeface="Calibri"/>
              </a:rPr>
              <a:t>15,3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651760"/>
            <a:ext cx="11303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C2430"/>
                </a:solidFill>
                <a:latin typeface="Calibri"/>
              </a:rPr>
              <a:t>rising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9088" y="2651760"/>
            <a:ext cx="12009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7506E"/>
                </a:solidFill>
                <a:latin typeface="Calibri"/>
              </a:rPr>
              <a:t>0,423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22438" y="2651760"/>
            <a:ext cx="12009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7506E"/>
                </a:solidFill>
                <a:latin typeface="Calibri"/>
              </a:rPr>
              <a:t>23,2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246120"/>
            <a:ext cx="3532327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1C2430"/>
                </a:solidFill>
                <a:latin typeface="Calibri"/>
              </a:rPr>
              <a:t>Авторский L2TermComputation3.py читает net.params целиком, включая BN-накопители. Их включение меняет масштаб на порядок, и это не переменные gradient descent.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4480560"/>
            <a:ext cx="3532327" cy="178308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4645152"/>
            <a:ext cx="312999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1" i="0">
                <a:solidFill>
                  <a:srgbClr val="1C2430"/>
                </a:solidFill>
                <a:latin typeface="Calibri"/>
              </a:rPr>
              <a:t>Итог: </a:t>
            </a:r>
            <a:r>
              <a:rPr sz="1250" b="0" i="0">
                <a:solidFill>
                  <a:srgbClr val="1C2430"/>
                </a:solidFill>
                <a:latin typeface="Calibri"/>
              </a:rPr>
              <a:t>качественно повторил Fig. 3a (постоянный LR оседает к своему значению, rising растёт вместе с LR), но не 2-6. Оценку называю индикатором «можно ещё поднять», независимого подтверждения кривизны у меня нет.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7506E"/>
                </a:solidFill>
                <a:latin typeface="Calibri"/>
              </a:rPr>
              <a:t>04 · АБЛЯЦИИ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52" b="1" i="0">
                <a:solidFill>
                  <a:srgbClr val="1C2430"/>
                </a:solidFill>
                <a:latin typeface="serif"/>
              </a:rPr>
              <a:t>Weight decay, пик LR и BN при 20k обновлений (seed 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2700"/>
          </a:xfrm>
          <a:prstGeom prst="rect">
            <a:avLst/>
          </a:prstGeom>
          <a:solidFill>
            <a:srgbClr val="E1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03020"/>
            <a:ext cx="2377440" cy="2286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Smith &amp; Topin · Super-Convergence · arXiv:1708.07120v3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13 / 16</a:t>
            </a:r>
          </a:p>
        </p:txBody>
      </p:sp>
      <p:pic>
        <p:nvPicPr>
          <p:cNvPr id="8" name="Picture 7" descr="w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53432"/>
            <a:ext cx="3442106" cy="14081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4343400"/>
            <a:ext cx="3442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7506E"/>
                </a:solidFill>
                <a:latin typeface="Calibri"/>
              </a:rPr>
              <a:t>WEIGHT DECAY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17720"/>
            <a:ext cx="344210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80" b="0" i="0">
                <a:solidFill>
                  <a:srgbClr val="1C2430"/>
                </a:solidFill>
                <a:latin typeface="Calibri"/>
              </a:rPr>
              <a:t>1e-6: 88,20 % (−3,2 п.п. к baseline), 5e-4: 81,16 % (−10,2). Баланс регуляризации из статьи подтверждается направленно.</a:t>
            </a:r>
          </a:p>
        </p:txBody>
      </p:sp>
      <p:pic>
        <p:nvPicPr>
          <p:cNvPr id="11" name="Picture 10" descr="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794" y="2153432"/>
            <a:ext cx="3442106" cy="14081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74794" y="4343400"/>
            <a:ext cx="3442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7506E"/>
                </a:solidFill>
                <a:latin typeface="Calibri"/>
              </a:rPr>
              <a:t>ПИК LR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4794" y="4617720"/>
            <a:ext cx="344210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80" b="0" i="0">
                <a:solidFill>
                  <a:srgbClr val="1C2430"/>
                </a:solidFill>
                <a:latin typeface="Calibri"/>
              </a:rPr>
              <a:t>Пик 6 держится на уровне пика 3 (91,36), пик 1: 90,37. Верхняя граница цикла не критична; «нечувствительность LR» по одному seed не утверждаю.</a:t>
            </a:r>
          </a:p>
        </p:txBody>
      </p:sp>
      <p:pic>
        <p:nvPicPr>
          <p:cNvPr id="14" name="Picture 13" descr="b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2660" y="2153432"/>
            <a:ext cx="3442106" cy="140813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82660" y="4343400"/>
            <a:ext cx="344210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7506E"/>
                </a:solidFill>
                <a:latin typeface="Calibri"/>
              </a:rPr>
              <a:t>СКОРОСТЬ ОБНОВЛЕНИЯ 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2660" y="4617720"/>
            <a:ext cx="344210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80" b="0" i="0">
                <a:solidFill>
                  <a:srgbClr val="1C2430"/>
                </a:solidFill>
                <a:latin typeface="Calibri"/>
              </a:rPr>
              <a:t>MAF 0,999 в коротком CLR-цикле ломает обучение: 9,03 %. Быстрые BN-статистики действительно нужны, как в статье.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989320"/>
            <a:ext cx="11057839" cy="384048"/>
          </a:xfrm>
          <a:prstGeom prst="roundRect">
            <a:avLst>
              <a:gd name="adj" fmla="val 1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5989320"/>
            <a:ext cx="10600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C6672"/>
                </a:solidFill>
                <a:latin typeface="Calibri"/>
              </a:rPr>
              <a:t>Один seed; для пика LR 6 и BN 0,001 менялся и загрузчик данных - эти две строки описательные.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7506E"/>
                </a:solidFill>
                <a:latin typeface="Calibri"/>
              </a:rPr>
              <a:t>04 · ОГРАНИЧЕННЫЕ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1C2430"/>
                </a:solidFill>
                <a:latin typeface="serif"/>
              </a:rPr>
              <a:t>Выигрыш CLR на малых выборках подтвердился частично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2700"/>
          </a:xfrm>
          <a:prstGeom prst="rect">
            <a:avLst/>
          </a:prstGeom>
          <a:solidFill>
            <a:srgbClr val="E1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03020"/>
            <a:ext cx="2377440" cy="2286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Smith &amp; Topin · Super-Convergence · arXiv:1708.07120v3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14 / 16</a:t>
            </a:r>
          </a:p>
        </p:txBody>
      </p:sp>
      <p:pic>
        <p:nvPicPr>
          <p:cNvPr id="8" name="Picture 7" descr="limited_1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01151"/>
            <a:ext cx="5346039" cy="2187016"/>
          </a:xfrm>
          <a:prstGeom prst="rect">
            <a:avLst/>
          </a:prstGeom>
        </p:spPr>
      </p:pic>
      <p:pic>
        <p:nvPicPr>
          <p:cNvPr id="9" name="Picture 8" descr="limited_25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901151"/>
            <a:ext cx="5346039" cy="21870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617720"/>
            <a:ext cx="534603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1C2430"/>
                </a:solidFill>
                <a:latin typeface="Calibri"/>
              </a:rPr>
              <a:t>10 000 изображений: </a:t>
            </a:r>
            <a:r>
              <a:rPr sz="1300" b="0" i="0">
                <a:solidFill>
                  <a:srgbClr val="1C2430"/>
                </a:solidFill>
                <a:latin typeface="Calibri"/>
              </a:rPr>
              <a:t>CLR 53,01 % против PC 70,91 %. Направление статьи здесь не воспроизвелось.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4617720"/>
            <a:ext cx="534603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1C2430"/>
                </a:solidFill>
                <a:latin typeface="Calibri"/>
              </a:rPr>
              <a:t>25 000 изображений: </a:t>
            </a:r>
            <a:r>
              <a:rPr sz="1300" b="0" i="0">
                <a:solidFill>
                  <a:srgbClr val="1C2430"/>
                </a:solidFill>
                <a:latin typeface="Calibri"/>
              </a:rPr>
              <a:t>CLR 88,65 % против PC 85,44 %. Здесь CLR впереди, как и ждали.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623560"/>
            <a:ext cx="11057839" cy="685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5623560"/>
            <a:ext cx="1060063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80" b="0" i="0">
                <a:solidFill>
                  <a:srgbClr val="1C2430"/>
                </a:solidFill>
                <a:latin typeface="Calibri"/>
              </a:rPr>
              <a:t>Постановка отличается от Table 1: у меня ResNet-20 и равные бюджеты 20k в каждой паре, у авторов ResNet-56 и 10k против 80k. Один seed; mean image вычтен по всем 50k train-изображений.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7506E"/>
                </a:solidFill>
                <a:latin typeface="Calibri"/>
              </a:rPr>
              <a:t>05 · 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1C2430"/>
                </a:solidFill>
                <a:latin typeface="serif"/>
              </a:rPr>
              <a:t>Что подтвердилось, а что нет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2700"/>
          </a:xfrm>
          <a:prstGeom prst="rect">
            <a:avLst/>
          </a:prstGeom>
          <a:solidFill>
            <a:srgbClr val="E1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03020"/>
            <a:ext cx="2377440" cy="2286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Smith &amp; Topin · Super-Convergence · arXiv:1708.07120v3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15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3442106" cy="365760"/>
          </a:xfrm>
          <a:prstGeom prst="roundRect">
            <a:avLst>
              <a:gd name="adj" fmla="val 12000"/>
            </a:avLst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72768"/>
            <a:ext cx="344210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ПОДТВЕРЖДЕНО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48840"/>
            <a:ext cx="3442106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2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220" b="0" i="0">
                <a:solidFill>
                  <a:srgbClr val="1C2430"/>
                </a:solidFill>
                <a:latin typeface="Calibri"/>
              </a:rPr>
              <a:t>CLR стабильно выше PC на ResNet-20: +2,01 п.п. при 4× меньшем бюджете (3 seed).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2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220" b="0" i="0">
                <a:solidFill>
                  <a:srgbClr val="1C2430"/>
                </a:solidFill>
                <a:latin typeface="Calibri"/>
              </a:rPr>
              <a:t>ResNet-56 на уровне статьи: 92,78 % за 10k обновлений (seed 0).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2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220" b="0" i="0">
                <a:solidFill>
                  <a:srgbClr val="1C2430"/>
                </a:solidFill>
                <a:latin typeface="Calibri"/>
              </a:rPr>
              <a:t>MNIST 1cycle: 99,15-99,18 % за 12 эпох против 99,04 % за 85.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2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220" b="0" i="0">
                <a:solidFill>
                  <a:srgbClr val="1C2430"/>
                </a:solidFill>
                <a:latin typeface="Calibri"/>
              </a:rPr>
              <a:t>Big-LR-обучение требует быстрого BN и малого weight decay - направления абляций совпадают со статьёй.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4794" y="1572768"/>
            <a:ext cx="3442106" cy="365760"/>
          </a:xfrm>
          <a:prstGeom prst="roundRect">
            <a:avLst>
              <a:gd name="adj" fmla="val 12000"/>
            </a:avLst>
          </a:prstGeom>
          <a:solidFill>
            <a:srgbClr val="B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4794" y="1572768"/>
            <a:ext cx="344210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РАСХОЖДЕНИЯ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4794" y="2148840"/>
            <a:ext cx="3442106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2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220" b="0" i="0">
                <a:solidFill>
                  <a:srgbClr val="1C2430"/>
                </a:solidFill>
                <a:latin typeface="Calibri"/>
              </a:rPr>
              <a:t>Secant-оценка даёт 0,2-0,4 (и до 23 с BN-накопителями) вместо диапазона 2-6; форма кривой при этом как на Fig. 3a.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2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220" b="0" i="0">
                <a:solidFill>
                  <a:srgbClr val="1C2430"/>
                </a:solidFill>
                <a:latin typeface="Calibri"/>
              </a:rPr>
              <a:t>На 10k изображений CLR проиграл PC с равным бюджетом (53,0 против 70,9).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2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220" b="0" i="0">
                <a:solidFill>
                  <a:srgbClr val="1C2430"/>
                </a:solidFill>
                <a:latin typeface="Calibri"/>
              </a:rPr>
              <a:t>PC-плечо ResNet-56 ниже авторского: 90,15 против 91,2.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2660" y="1572768"/>
            <a:ext cx="3442106" cy="365760"/>
          </a:xfrm>
          <a:prstGeom prst="roundRect">
            <a:avLst>
              <a:gd name="adj" fmla="val 12000"/>
            </a:avLst>
          </a:prstGeom>
          <a:solidFill>
            <a:srgbClr val="5C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2660" y="1572768"/>
            <a:ext cx="344210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ГРАНИЦЫ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2660" y="2148840"/>
            <a:ext cx="3442106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2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220" b="0" i="0">
                <a:solidFill>
                  <a:srgbClr val="1C2430"/>
                </a:solidFill>
                <a:latin typeface="Calibri"/>
              </a:rPr>
              <a:t>BN на полном batch 1000 на одном GPU вместо 125 × 8 - не изолирован.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2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220" b="0" i="0">
                <a:solidFill>
                  <a:srgbClr val="1C2430"/>
                </a:solidFill>
                <a:latin typeface="Calibri"/>
              </a:rPr>
              <a:t>Абляции в один seed, времена не бенчмарк, отношение бюджетов не равно ускорению.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1220" b="1" i="0">
                <a:solidFill>
                  <a:srgbClr val="17506E"/>
                </a:solidFill>
                <a:latin typeface="Calibri"/>
              </a:rPr>
              <a:t>·  </a:t>
            </a:r>
            <a:r>
              <a:rPr sz="1220" b="0" i="0">
                <a:solidFill>
                  <a:srgbClr val="1C2430"/>
                </a:solidFill>
                <a:latin typeface="Calibri"/>
              </a:rPr>
              <a:t>ImageNet, CIFAR-100 и другие архитектуры не запускались.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03504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1C2430"/>
                </a:solidFill>
                <a:latin typeface="Calibri"/>
              </a:rPr>
              <a:t>Итог: супер-сходность как режим «один цикл большого LR + правильные BN и decay» воспроизводится в PyTorch; количественные части (оценка шага, выигрыш на 10k) остаются не подтверждёнными.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7506E"/>
                </a:solidFill>
                <a:latin typeface="Calibri"/>
              </a:rPr>
              <a:t>05 · МАТЕРИАЛЫ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1C2430"/>
                </a:solidFill>
                <a:latin typeface="serif"/>
              </a:rPr>
              <a:t>Всё воспроизводимо из репозитория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2700"/>
          </a:xfrm>
          <a:prstGeom prst="rect">
            <a:avLst/>
          </a:prstGeom>
          <a:solidFill>
            <a:srgbClr val="E1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03020"/>
            <a:ext cx="2377440" cy="22860"/>
          </a:xfrm>
          <a:prstGeom prst="rect">
            <a:avLst/>
          </a:prstGeom>
          <a:solidFill>
            <a:srgbClr val="17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Smith &amp; Topin · Super-Convergence · arXiv:1708.07120v3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5105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6672"/>
                </a:solidFill>
                <a:latin typeface="Calibri"/>
              </a:rPr>
              <a:t>16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11057839" cy="786384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91640"/>
            <a:ext cx="21031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7506E"/>
                </a:solidFill>
                <a:latin typeface="Calibri"/>
              </a:rPr>
              <a:t>Отчёт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691640"/>
            <a:ext cx="822319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C2430"/>
                </a:solidFill>
                <a:latin typeface="Calibri"/>
              </a:rPr>
              <a:t>report.md + report.pdf: протокол, таблицы, все оговорки. Полный разбор статьи: paper_analysis.md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24328"/>
            <a:ext cx="11057839" cy="786384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624328"/>
            <a:ext cx="21031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7506E"/>
                </a:solidFill>
                <a:latin typeface="Calibri"/>
              </a:rPr>
              <a:t>Код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2624328"/>
            <a:ext cx="822319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C2430"/>
                </a:solidFill>
                <a:latin typeface="Calibri"/>
              </a:rPr>
              <a:t>code/train.py, policies.py, resnet.py, lenet.py, range_test.py; проверки code/check_solution.py, code/verify_report2.py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557016"/>
            <a:ext cx="11057839" cy="786384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557016"/>
            <a:ext cx="21031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7506E"/>
                </a:solidFill>
                <a:latin typeface="Calibri"/>
              </a:rPr>
              <a:t>Запуски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557016"/>
            <a:ext cx="822319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C2430"/>
                </a:solidFill>
                <a:latin typeface="Calibri"/>
              </a:rPr>
              <a:t>runs/: 28 папок, history.json (args, SHA256, статус), lr_log.json, iter_log.json, сохранённые модели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89704"/>
            <a:ext cx="11057839" cy="786384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489704"/>
            <a:ext cx="21031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7506E"/>
                </a:solidFill>
                <a:latin typeface="Calibri"/>
              </a:rPr>
              <a:t>Проверка чисел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4489704"/>
            <a:ext cx="822319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C2430"/>
                </a:solidFill>
                <a:latin typeface="Calibri"/>
              </a:rPr>
              <a:t>figures/verification.json: accuracy каждого финального checkpoint пересчитана по всем 10 000 test-изображений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495544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</a:rPr>
              <a:t>Воспроизвести с нуля: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 i="0">
                <a:solidFill>
                  <a:srgbClr val="17506E"/>
                </a:solidFill>
                <a:latin typeface="mono"/>
              </a:rPr>
              <a:t>python code/check_solution.py   ·   bash code/run_all.sh all --gpus 0 1   ·   python code/verify_report2.py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